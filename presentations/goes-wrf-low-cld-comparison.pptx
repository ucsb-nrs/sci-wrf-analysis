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60" r:id="rId3"/>
    <p:sldId id="256" r:id="rId4"/>
    <p:sldId id="257" r:id="rId5"/>
    <p:sldId id="261" r:id="rId6"/>
    <p:sldId id="258" r:id="rId7"/>
    <p:sldId id="259" r:id="rId8"/>
    <p:sldId id="262" r:id="rId9"/>
    <p:sldId id="263" r:id="rId10"/>
    <p:sldId id="267" r:id="rId11"/>
    <p:sldId id="268" r:id="rId12"/>
    <p:sldId id="27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64" r:id="rId21"/>
    <p:sldId id="265" r:id="rId22"/>
    <p:sldId id="2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95"/>
  </p:normalViewPr>
  <p:slideViewPr>
    <p:cSldViewPr snapToGrid="0">
      <p:cViewPr>
        <p:scale>
          <a:sx n="140" d="100"/>
          <a:sy n="140" d="100"/>
        </p:scale>
        <p:origin x="5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FD40-2631-7ACF-C4A7-47E12C784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A879F-C3F6-70C2-A135-FE01406A5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BEC3F-57F7-D91A-6421-5ADB8518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74FC-A1E2-9578-C4BC-D68B859FA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A411A-0928-2E40-7B7E-AB3B304C3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6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20B86-CBC2-7637-52B0-FC44BC52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9AA92-43C3-1053-45FD-7F8FDBBE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12C72-7F0E-CE82-2127-6D3F053B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A5780-9AEA-CC74-2380-BEE24235E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40206-F171-A69B-58EF-1C3B32B3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6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5FB7-977E-4FE3-0770-0C16003E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918C3-E213-D4F0-E424-885AF4141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17E1B-5658-762D-64C6-69D15469F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294EB-D6F4-C9DE-989E-121EF28F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546D-B8B7-F2A7-690D-B9D64465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0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7954-342C-2A0E-5946-3A78ECBD3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BB14D-46FD-C56A-60D4-555CC3B9F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2FC75-84C2-BF02-3771-BA71F7208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85065-3415-9229-FB5B-5478DC22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76401-75C0-4AC8-4BF8-D63C43714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3D73E-25FE-0E04-9CBC-9F204167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7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572-02AE-705D-D50B-743E6A4D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67938-0B52-B874-F1A2-9C032757E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223BD-C4E6-F3A4-225A-2FDCFDABD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E0EA4E-1DF3-A54D-D7A8-A31CE6666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86CABE-63F3-C1A4-4AAC-8145D6C65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9177D-8FF0-E2A2-1B1E-8556BB79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CB537-4543-C116-B76A-EC44B20DB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CAE8FA-5FC4-D307-F281-53A364A5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2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7732-E10D-382A-9392-8A910B13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E8621-6D1E-32DD-87FC-D260051B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EBCD4-B979-DA4A-9C3A-B749F7B1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66D71B-0C39-EEE6-3FB4-AA071DC0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BB28E-8E99-CE16-CB93-097AB097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BDB24-EADB-B08D-3B7F-B17939E1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25454-E972-278C-1413-0039F879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844C-340D-E1D0-F733-2FAAB2DC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44466-7F21-4FB0-1C9E-C8524C691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5162-F08F-EA3C-1FCC-387A35865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B7AB8-CB0B-0AD2-55F0-BF7A409D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6C9DD-7003-256E-41D5-911D9CF79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E5619-3659-0574-A51E-AB31FBBA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4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D9C33-4CF2-72CE-713C-52E0DC9A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92EAE-9CEB-9710-E866-BCACA9A9C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E278D-6E47-8461-F810-E911F0E36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4562E-2AE0-068F-370B-5E01EC6E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9CA97-E362-C5B4-74D1-7566533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CF535-C9F6-9F71-9DFC-5F71F2A4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85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0DE3-3B52-D752-D238-8BCC92338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57733-50FC-F6CA-2503-A6804C4A5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3D592-5D8A-C53E-B445-4C04EC3B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AEC97-C46F-7A06-799A-BF53B1339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7A7B8-68C8-F524-56C6-EC49DFB62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F2C854-7F08-9FF6-F3DD-93674AD89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4E449-8BF0-E80C-7375-AF7A0EF6F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ADA41-AE82-2B94-94D0-BB2113B99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67CF6-83B7-0B14-BE9E-0A9EF20CF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4131C-6DBE-103C-9484-33BCAC40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9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38526-EB0D-D974-FD11-A3EF3CB4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29E51-5555-1368-F7DA-5D32DE97D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0447A-85A8-A9FB-E112-CB3AFA39E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5E229-E5F2-CF4C-86BF-3A53D1EDBB34}" type="datetimeFigureOut">
              <a:rPr lang="en-US" smtClean="0"/>
              <a:t>3/13/25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3AC31-52A5-C5D2-F24D-B0D31D1A01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8DDD6-6288-E34F-D843-4323F87120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F568C-0712-5546-BB1E-441A86BA1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0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AFD9B-51FF-1C4A-5275-1636A8A5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WRF Coastal Low Clouds (CLC)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7C3D6-742D-1616-D9AA-4CF700E4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439096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000"/>
              </a:spcAft>
            </a:pPr>
            <a:r>
              <a:rPr lang="en-US" dirty="0"/>
              <a:t>Assessing WRF performance in simulating CLC for Santa Cruz Island, using a GOES derived CLC dataset (</a:t>
            </a:r>
            <a:r>
              <a:rPr lang="en-US" dirty="0" err="1"/>
              <a:t>Clemesha</a:t>
            </a:r>
            <a:r>
              <a:rPr lang="en-US" dirty="0"/>
              <a:t> et al., below) as truth</a:t>
            </a:r>
          </a:p>
          <a:p>
            <a:pPr>
              <a:spcAft>
                <a:spcPts val="1000"/>
              </a:spcAft>
            </a:pPr>
            <a:r>
              <a:rPr lang="en-US" dirty="0"/>
              <a:t>Groundwork for assessing WRF performance in simulating fog at Santa Cruz Island</a:t>
            </a:r>
          </a:p>
          <a:p>
            <a:pPr>
              <a:spcAft>
                <a:spcPts val="1000"/>
              </a:spcAft>
            </a:pPr>
            <a:r>
              <a:rPr lang="en-US" dirty="0"/>
              <a:t>CLC defined as clouds below 2000m for both WRF and GOES</a:t>
            </a:r>
          </a:p>
          <a:p>
            <a:pPr>
              <a:spcAft>
                <a:spcPts val="1000"/>
              </a:spcAft>
            </a:pPr>
            <a:r>
              <a:rPr lang="en-US" dirty="0"/>
              <a:t>WRF CLC extracted using </a:t>
            </a:r>
            <a:r>
              <a:rPr lang="en-US" dirty="0" err="1"/>
              <a:t>wrf</a:t>
            </a:r>
            <a:r>
              <a:rPr lang="en-US" dirty="0"/>
              <a:t>-python </a:t>
            </a:r>
            <a:r>
              <a:rPr lang="en-US" dirty="0" err="1"/>
              <a:t>wrf.cloudfrac</a:t>
            </a:r>
            <a:r>
              <a:rPr lang="en-US" dirty="0"/>
              <a:t>() to get cloud fraction, then made into binary variable using threshold value</a:t>
            </a:r>
          </a:p>
          <a:p>
            <a:pPr>
              <a:spcAft>
                <a:spcPts val="1000"/>
              </a:spcAft>
            </a:pPr>
            <a:r>
              <a:rPr lang="en-US" dirty="0"/>
              <a:t>GOES CLC defined as cells where cloud albedo &gt; 8.5%, set based on communication with Rachel </a:t>
            </a:r>
            <a:r>
              <a:rPr lang="en-US" dirty="0" err="1"/>
              <a:t>Clemesha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C411E-6F97-BDE3-8151-03805A1A8E0E}"/>
              </a:ext>
            </a:extLst>
          </p:cNvPr>
          <p:cNvSpPr txBox="1"/>
          <p:nvPr/>
        </p:nvSpPr>
        <p:spPr>
          <a:xfrm>
            <a:off x="0" y="5934670"/>
            <a:ext cx="114391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Clemesha</a:t>
            </a:r>
            <a:r>
              <a:rPr lang="en-US" dirty="0"/>
              <a:t>, R. E, et al. (2021). A high-resolution record of coastal clouds and fog and their role in plant distributions over San Clemente Island, California. </a:t>
            </a:r>
            <a:r>
              <a:rPr lang="en-US" i="1" dirty="0"/>
              <a:t>Environmental Research Communications</a:t>
            </a:r>
            <a:r>
              <a:rPr lang="en-US" dirty="0"/>
              <a:t>, </a:t>
            </a:r>
            <a:r>
              <a:rPr lang="en-US" i="1" dirty="0"/>
              <a:t>3</a:t>
            </a:r>
            <a:r>
              <a:rPr lang="en-US" dirty="0"/>
              <a:t>(10), 105003.</a:t>
            </a:r>
          </a:p>
          <a:p>
            <a:r>
              <a:rPr lang="en-US" b="1" dirty="0">
                <a:effectLst/>
              </a:rPr>
              <a:t>DOI</a:t>
            </a:r>
            <a:r>
              <a:rPr lang="en-US" dirty="0">
                <a:effectLst/>
              </a:rPr>
              <a:t> 10.1088/2515-7620/ac2894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916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BF5E735-D41E-241C-0805-D490BC9C1C67}"/>
              </a:ext>
            </a:extLst>
          </p:cNvPr>
          <p:cNvGrpSpPr/>
          <p:nvPr/>
        </p:nvGrpSpPr>
        <p:grpSpPr>
          <a:xfrm>
            <a:off x="0" y="103226"/>
            <a:ext cx="12192000" cy="5276088"/>
            <a:chOff x="111469" y="1103556"/>
            <a:chExt cx="12080531" cy="50734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0AECBA0-25CB-EF1C-9C93-5CF95575C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469" y="1103556"/>
              <a:ext cx="12080531" cy="507340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7FCA09-33F9-A6F2-8502-AE562820B040}"/>
                </a:ext>
              </a:extLst>
            </p:cNvPr>
            <p:cNvSpPr txBox="1"/>
            <p:nvPr/>
          </p:nvSpPr>
          <p:spPr>
            <a:xfrm>
              <a:off x="471133" y="3640259"/>
              <a:ext cx="1069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West End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6E1975-B420-69E2-09A1-BD48610CF630}"/>
                </a:ext>
              </a:extLst>
            </p:cNvPr>
            <p:cNvSpPr txBox="1"/>
            <p:nvPr/>
          </p:nvSpPr>
          <p:spPr>
            <a:xfrm>
              <a:off x="4069514" y="4470509"/>
              <a:ext cx="10695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Inland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A38CB43-2C71-EC66-2121-FA7EC6A6ECA9}"/>
                </a:ext>
              </a:extLst>
            </p:cNvPr>
            <p:cNvSpPr txBox="1"/>
            <p:nvPr/>
          </p:nvSpPr>
          <p:spPr>
            <a:xfrm>
              <a:off x="5778241" y="2485644"/>
              <a:ext cx="1069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North Ocean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C0627F-835E-BA06-AB7A-2702200FE44D}"/>
                </a:ext>
              </a:extLst>
            </p:cNvPr>
            <p:cNvSpPr txBox="1"/>
            <p:nvPr/>
          </p:nvSpPr>
          <p:spPr>
            <a:xfrm>
              <a:off x="7718623" y="2355016"/>
              <a:ext cx="1069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solidFill>
                    <a:schemeClr val="bg1"/>
                  </a:solidFill>
                </a:rPr>
                <a:t>Coches</a:t>
              </a:r>
              <a:r>
                <a:rPr lang="en-US" sz="2000" dirty="0">
                  <a:solidFill>
                    <a:schemeClr val="bg1"/>
                  </a:solidFill>
                </a:rPr>
                <a:t> Point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D46A5FD-2F43-F97C-03A7-626A4650F4F0}"/>
              </a:ext>
            </a:extLst>
          </p:cNvPr>
          <p:cNvSpPr txBox="1"/>
          <p:nvPr/>
        </p:nvSpPr>
        <p:spPr>
          <a:xfrm>
            <a:off x="0" y="4858767"/>
            <a:ext cx="55922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GOES Frequency defined as the total number of times a cell was cloudy, divided by total number of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Regions of Interest defined to compare WRF performance at coastal fog ‘hotspots’ against ocean sites and inland sites that are relatively clear.</a:t>
            </a:r>
          </a:p>
        </p:txBody>
      </p:sp>
    </p:spTree>
    <p:extLst>
      <p:ext uri="{BB962C8B-B14F-4D97-AF65-F5344CB8AC3E}">
        <p14:creationId xmlns:p14="http://schemas.microsoft.com/office/powerpoint/2010/main" val="2637455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5BA6-282C-34AF-CDC4-70B037218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344" y="1122363"/>
            <a:ext cx="9058656" cy="2387600"/>
          </a:xfrm>
        </p:spPr>
        <p:txBody>
          <a:bodyPr/>
          <a:lstStyle/>
          <a:p>
            <a:r>
              <a:rPr lang="en-US" dirty="0"/>
              <a:t>Cloud Fraction Threshold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74BD7-AE4F-FECB-3C19-24902FC6F9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Analysis to determine optimal threshold to define low clouds using cloud fraction returned from </a:t>
            </a:r>
            <a:r>
              <a:rPr lang="en-US" dirty="0" err="1"/>
              <a:t>wrf</a:t>
            </a:r>
            <a:r>
              <a:rPr lang="en-US" dirty="0"/>
              <a:t>-python</a:t>
            </a:r>
          </a:p>
        </p:txBody>
      </p:sp>
    </p:spTree>
    <p:extLst>
      <p:ext uri="{BB962C8B-B14F-4D97-AF65-F5344CB8AC3E}">
        <p14:creationId xmlns:p14="http://schemas.microsoft.com/office/powerpoint/2010/main" val="376999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B8246F-42AC-B799-52D8-F85DAA310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772400" cy="2971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97D5D9-0CEC-B51A-9E7E-D53B87960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6164"/>
            <a:ext cx="7772400" cy="3751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4375C9-60DA-C8F7-0784-211909A9AB59}"/>
              </a:ext>
            </a:extLst>
          </p:cNvPr>
          <p:cNvSpPr txBox="1"/>
          <p:nvPr/>
        </p:nvSpPr>
        <p:spPr>
          <a:xfrm>
            <a:off x="8509581" y="2094637"/>
            <a:ext cx="31398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WRF performance was assessed against a range of thresholds, and </a:t>
            </a:r>
            <a:r>
              <a:rPr lang="en-US" b="1" dirty="0"/>
              <a:t>0.45</a:t>
            </a:r>
            <a:r>
              <a:rPr lang="en-US" dirty="0"/>
              <a:t> was chosen to balance performance between overall and west end. </a:t>
            </a:r>
          </a:p>
        </p:txBody>
      </p:sp>
    </p:spTree>
    <p:extLst>
      <p:ext uri="{BB962C8B-B14F-4D97-AF65-F5344CB8AC3E}">
        <p14:creationId xmlns:p14="http://schemas.microsoft.com/office/powerpoint/2010/main" val="4142372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71DA1E-8895-3BBE-A6DA-FA29A4B0D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84130" cy="4611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0C8461-1591-4265-E28D-817C27DB8986}"/>
              </a:ext>
            </a:extLst>
          </p:cNvPr>
          <p:cNvSpPr txBox="1"/>
          <p:nvPr/>
        </p:nvSpPr>
        <p:spPr>
          <a:xfrm>
            <a:off x="429769" y="4882896"/>
            <a:ext cx="7095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Another way to visualize same plots as above. Horizontal transparent lines represent ‘true’ frequencies defined using GOES. </a:t>
            </a:r>
          </a:p>
        </p:txBody>
      </p:sp>
    </p:spTree>
    <p:extLst>
      <p:ext uri="{BB962C8B-B14F-4D97-AF65-F5344CB8AC3E}">
        <p14:creationId xmlns:p14="http://schemas.microsoft.com/office/powerpoint/2010/main" val="3923555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48EB-12A6-C45A-6F85-F4959E88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759" y="456565"/>
            <a:ext cx="4085881" cy="1325563"/>
          </a:xfrm>
        </p:spPr>
        <p:txBody>
          <a:bodyPr/>
          <a:lstStyle/>
          <a:p>
            <a:r>
              <a:rPr lang="en-US" dirty="0"/>
              <a:t>Overall Patterns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B60E9-8452-DC9E-3B15-5BE381902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6416" y="1606169"/>
            <a:ext cx="4876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Percent match defined by calculating the number of hourly timesteps where WRF and GOES were both ‘cloud’ or both ‘no cloud’</a:t>
            </a:r>
          </a:p>
          <a:p>
            <a:r>
              <a:rPr lang="en-US" dirty="0"/>
              <a:t>WRF  performs worst at foggiest sites (west end, northeast end) </a:t>
            </a:r>
          </a:p>
          <a:p>
            <a:r>
              <a:rPr lang="en-US" dirty="0"/>
              <a:t>WRF does simulate frequent CLC at west end, suggesting the timing is somewhat misaligned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E7292-68AC-62D5-777C-F97224082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03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1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C13D8D-C66D-0C99-F82F-C3D9E4902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9" y="0"/>
            <a:ext cx="9023706" cy="2898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918C7B-7FC3-FA3B-896B-060D71A95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35808"/>
            <a:ext cx="8399870" cy="362102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CF0EBD2-7046-7FC1-D91A-1027AC90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479" y="1102328"/>
            <a:ext cx="4323625" cy="1325563"/>
          </a:xfrm>
        </p:spPr>
        <p:txBody>
          <a:bodyPr/>
          <a:lstStyle/>
          <a:p>
            <a:r>
              <a:rPr lang="en-US" dirty="0"/>
              <a:t>Temporal Patterns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ACAF12-82C1-1BEB-1801-20CCD1F7D6BE}"/>
              </a:ext>
            </a:extLst>
          </p:cNvPr>
          <p:cNvSpPr txBox="1"/>
          <p:nvPr/>
        </p:nvSpPr>
        <p:spPr>
          <a:xfrm>
            <a:off x="8267662" y="2085493"/>
            <a:ext cx="3665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Inverse relationship between match % and GOES frequency – the cloudier the year / month, the lower the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WRF CLC does follow the trend of GOES CLC well</a:t>
            </a:r>
          </a:p>
        </p:txBody>
      </p:sp>
    </p:spTree>
    <p:extLst>
      <p:ext uri="{BB962C8B-B14F-4D97-AF65-F5344CB8AC3E}">
        <p14:creationId xmlns:p14="http://schemas.microsoft.com/office/powerpoint/2010/main" val="377088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379C-D160-BFA2-F02E-184172E4D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ROI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C5D6A-E78F-1D17-6D1D-E1D63A002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B26161-732F-8AC5-C75E-9FD4872A8644}"/>
              </a:ext>
            </a:extLst>
          </p:cNvPr>
          <p:cNvGrpSpPr/>
          <p:nvPr/>
        </p:nvGrpSpPr>
        <p:grpSpPr>
          <a:xfrm>
            <a:off x="55734" y="1784593"/>
            <a:ext cx="12080531" cy="5073407"/>
            <a:chOff x="111469" y="1103556"/>
            <a:chExt cx="12080531" cy="50734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DA42EB9-9421-83EA-2051-E8E9AD447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469" y="1103556"/>
              <a:ext cx="12080531" cy="507340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F816CC4-BDA9-D0D6-F6B8-8BF58106DA41}"/>
                </a:ext>
              </a:extLst>
            </p:cNvPr>
            <p:cNvSpPr txBox="1"/>
            <p:nvPr/>
          </p:nvSpPr>
          <p:spPr>
            <a:xfrm>
              <a:off x="471133" y="3640259"/>
              <a:ext cx="1069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West End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08875BA-F1F4-6C0D-BC73-744E72EBB9C5}"/>
                </a:ext>
              </a:extLst>
            </p:cNvPr>
            <p:cNvSpPr txBox="1"/>
            <p:nvPr/>
          </p:nvSpPr>
          <p:spPr>
            <a:xfrm>
              <a:off x="4069514" y="4470509"/>
              <a:ext cx="106952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Inland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CDDF59-BF90-2846-5EAC-BAA29E5138DC}"/>
                </a:ext>
              </a:extLst>
            </p:cNvPr>
            <p:cNvSpPr txBox="1"/>
            <p:nvPr/>
          </p:nvSpPr>
          <p:spPr>
            <a:xfrm>
              <a:off x="5778241" y="2485644"/>
              <a:ext cx="1069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</a:rPr>
                <a:t>North Ocean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1F4B2F-1821-F669-D817-76C6685ADD3B}"/>
                </a:ext>
              </a:extLst>
            </p:cNvPr>
            <p:cNvSpPr txBox="1"/>
            <p:nvPr/>
          </p:nvSpPr>
          <p:spPr>
            <a:xfrm>
              <a:off x="7718623" y="2355016"/>
              <a:ext cx="106952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err="1">
                  <a:solidFill>
                    <a:schemeClr val="bg1"/>
                  </a:solidFill>
                </a:rPr>
                <a:t>Coches</a:t>
              </a:r>
              <a:r>
                <a:rPr lang="en-US" sz="2000" dirty="0">
                  <a:solidFill>
                    <a:schemeClr val="bg1"/>
                  </a:solidFill>
                </a:rPr>
                <a:t> Point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664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AEE040-1855-2C5B-1C65-834E6A7A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66"/>
            <a:ext cx="9683496" cy="41212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AA43FB-C81F-1D75-9979-DB90E76AC96A}"/>
              </a:ext>
            </a:extLst>
          </p:cNvPr>
          <p:cNvSpPr txBox="1"/>
          <p:nvPr/>
        </p:nvSpPr>
        <p:spPr>
          <a:xfrm>
            <a:off x="292608" y="5001768"/>
            <a:ext cx="8577072" cy="1456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Chosen threshold leads to overestimation at west end and north-ocean, but underestimation at inland and </a:t>
            </a:r>
            <a:r>
              <a:rPr lang="en-US" dirty="0" err="1"/>
              <a:t>coche</a:t>
            </a:r>
            <a:r>
              <a:rPr lang="en-US" dirty="0"/>
              <a:t>-point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Balances the overall score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Best match performance at inland, which is the least cloudy site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EEA033-4AF5-C80E-6462-27D598B8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9728" y="3898727"/>
            <a:ext cx="5952744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Overall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3037403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9B5F0C-418F-709D-8D2D-E1E9A75E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740"/>
            <a:ext cx="7772400" cy="3307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8564BF-D186-8086-BDDA-BC8D120DB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50104"/>
            <a:ext cx="7772400" cy="330789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F9F17A-41FD-D89F-AC2C-714F1AEB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4152" y="438070"/>
            <a:ext cx="35814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Monthly Breakdown by Site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6DF84-B4E7-002E-6207-2C5725D8179A}"/>
              </a:ext>
            </a:extLst>
          </p:cNvPr>
          <p:cNvSpPr txBox="1"/>
          <p:nvPr/>
        </p:nvSpPr>
        <p:spPr>
          <a:xfrm>
            <a:off x="8156449" y="2203704"/>
            <a:ext cx="3657600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These are the cloudiest sites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WRF correctly predicts relative frequency trends for both sites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dirty="0" err="1"/>
              <a:t>coches</a:t>
            </a:r>
            <a:r>
              <a:rPr lang="en-US" dirty="0"/>
              <a:t> point, the match frequency doesn’t follow the trend</a:t>
            </a:r>
          </a:p>
        </p:txBody>
      </p:sp>
    </p:spTree>
    <p:extLst>
      <p:ext uri="{BB962C8B-B14F-4D97-AF65-F5344CB8AC3E}">
        <p14:creationId xmlns:p14="http://schemas.microsoft.com/office/powerpoint/2010/main" val="2449254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2CA9-7A04-0C5D-7A5F-85D6FBC4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73E5-ADA8-7482-6B28-A4AF88613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F1ABF5-48D5-BB85-EB76-6320A19E9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3307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F7F6ED-146D-7CD0-8328-07D4864A1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50105"/>
            <a:ext cx="7772400" cy="330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98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8368A-AA36-47F8-242C-782702F1E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2566289"/>
            <a:ext cx="6632448" cy="661543"/>
          </a:xfrm>
        </p:spPr>
        <p:txBody>
          <a:bodyPr/>
          <a:lstStyle/>
          <a:p>
            <a:r>
              <a:rPr lang="en-US" dirty="0"/>
              <a:t>Overall Santa Cruz Island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66E33-4BE6-9D4F-794C-B242F41C7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7248"/>
            <a:ext cx="11587746" cy="373075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1B3720A-C878-905E-D06E-2DD9FCA54A63}"/>
              </a:ext>
            </a:extLst>
          </p:cNvPr>
          <p:cNvSpPr txBox="1">
            <a:spLocks/>
          </p:cNvSpPr>
          <p:nvPr/>
        </p:nvSpPr>
        <p:spPr>
          <a:xfrm>
            <a:off x="915549" y="650991"/>
            <a:ext cx="9756648" cy="1089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Interannual Trends</a:t>
            </a:r>
          </a:p>
        </p:txBody>
      </p:sp>
    </p:spTree>
    <p:extLst>
      <p:ext uri="{BB962C8B-B14F-4D97-AF65-F5344CB8AC3E}">
        <p14:creationId xmlns:p14="http://schemas.microsoft.com/office/powerpoint/2010/main" val="2313123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A437D3-7CB7-1E56-AB60-786A5378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526"/>
            <a:ext cx="10089349" cy="2980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E840BB-B034-B64A-95B3-125A298AD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9" y="3900470"/>
            <a:ext cx="10010100" cy="295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680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465AB1-2705-64CB-0239-E69F6EEBC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249"/>
            <a:ext cx="10182195" cy="3008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6BE951-A7BC-F34A-8400-C2D218C55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3849625"/>
            <a:ext cx="10182192" cy="30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8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353E44-7F2B-07BD-EB49-16B74150F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01836" cy="4892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32EFF9-D0B4-F438-5E98-4E2D4C5DDFA3}"/>
              </a:ext>
            </a:extLst>
          </p:cNvPr>
          <p:cNvSpPr txBox="1"/>
          <p:nvPr/>
        </p:nvSpPr>
        <p:spPr>
          <a:xfrm>
            <a:off x="493776" y="5303520"/>
            <a:ext cx="3382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point is a given year/site</a:t>
            </a:r>
          </a:p>
        </p:txBody>
      </p:sp>
    </p:spTree>
    <p:extLst>
      <p:ext uri="{BB962C8B-B14F-4D97-AF65-F5344CB8AC3E}">
        <p14:creationId xmlns:p14="http://schemas.microsoft.com/office/powerpoint/2010/main" val="2958561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76886B-2308-A87E-D8E4-927C2C68D6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589245" cy="6016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B8062C-A5B8-F11E-9060-043BF4D8A2B2}"/>
              </a:ext>
            </a:extLst>
          </p:cNvPr>
          <p:cNvSpPr txBox="1"/>
          <p:nvPr/>
        </p:nvSpPr>
        <p:spPr>
          <a:xfrm>
            <a:off x="6096000" y="676656"/>
            <a:ext cx="597408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Each point represents a year/month/site</a:t>
            </a:r>
          </a:p>
          <a:p>
            <a:pPr marL="742950" lvl="1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E.g. West End, July 2015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Dashed line has slope of 1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West End/North Ocean follow a similar trend, while inland and </a:t>
            </a:r>
            <a:r>
              <a:rPr lang="en-US" dirty="0" err="1"/>
              <a:t>coche</a:t>
            </a:r>
            <a:r>
              <a:rPr lang="en-US" dirty="0"/>
              <a:t> point follow a similar trend </a:t>
            </a:r>
          </a:p>
        </p:txBody>
      </p:sp>
    </p:spTree>
    <p:extLst>
      <p:ext uri="{BB962C8B-B14F-4D97-AF65-F5344CB8AC3E}">
        <p14:creationId xmlns:p14="http://schemas.microsoft.com/office/powerpoint/2010/main" val="1939815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C60E-A7B3-C5A5-AC09-FD2C9161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Standardized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E60559-3C72-1EA4-FFA1-5F668B981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468881"/>
            <a:ext cx="11402505" cy="43891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C0B7D7-9B67-FC91-F5CE-6507E2265FBD}"/>
              </a:ext>
            </a:extLst>
          </p:cNvPr>
          <p:cNvSpPr txBox="1"/>
          <p:nvPr/>
        </p:nvSpPr>
        <p:spPr>
          <a:xfrm>
            <a:off x="838200" y="1367522"/>
            <a:ext cx="7013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were standardized to have a mean of 0 and std. deviation of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Removes bias in order to assess interannual trends </a:t>
            </a:r>
          </a:p>
        </p:txBody>
      </p:sp>
    </p:spTree>
    <p:extLst>
      <p:ext uri="{BB962C8B-B14F-4D97-AF65-F5344CB8AC3E}">
        <p14:creationId xmlns:p14="http://schemas.microsoft.com/office/powerpoint/2010/main" val="517854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C40483-69F1-7F0D-3BF5-04C155EB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342143" cy="3364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3DBF73-8A8E-D3B3-60B9-7C8860ED6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1342143" cy="336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249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0F3A9D-6738-0466-995B-F5AF0A456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24501" cy="3364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BD0F69-F9C3-8E6E-8768-0D4146AB3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364992"/>
            <a:ext cx="11424501" cy="336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505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1F2D-6A36-36F7-3561-53C3422AE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Figures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4DB07-49BB-2F30-108E-7B54524BF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66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E617-71E2-6750-31C6-32CA39CB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D602B-18A5-6B02-5622-E62D79F47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6F3EE-E519-74E2-1A9D-6BFE2B91F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72400"/>
            <a:ext cx="7772400" cy="316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08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B2D21-AFAC-2FF0-9487-9F711C674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56E33-495B-5096-D74B-4BCDFD74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081F95-7D6B-02D9-1711-645C594F2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" y="2483046"/>
            <a:ext cx="7772400" cy="355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2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500</Words>
  <Application>Microsoft Macintosh PowerPoint</Application>
  <PresentationFormat>Widescreen</PresentationFormat>
  <Paragraphs>49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WRF Coastal Low Clouds (CLC) Performance</vt:lpstr>
      <vt:lpstr>PowerPoint Presentation</vt:lpstr>
      <vt:lpstr>Cloud Fraction Threshold</vt:lpstr>
      <vt:lpstr>PowerPoint Presentation</vt:lpstr>
      <vt:lpstr>PowerPoint Presentation</vt:lpstr>
      <vt:lpstr>Overall Patterns </vt:lpstr>
      <vt:lpstr>Temporal Patterns</vt:lpstr>
      <vt:lpstr>ROI Analyses</vt:lpstr>
      <vt:lpstr>Overall Frequencies</vt:lpstr>
      <vt:lpstr>Monthly Breakdown by 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Standardized Plots</vt:lpstr>
      <vt:lpstr>PowerPoint Presentation</vt:lpstr>
      <vt:lpstr>PowerPoint Presentation</vt:lpstr>
      <vt:lpstr>Extra Figures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McCornack, Patrick Fraser</dc:creator>
  <cp:lastModifiedBy>McCornack, Patrick Fraser</cp:lastModifiedBy>
  <cp:revision>1</cp:revision>
  <dcterms:created xsi:type="dcterms:W3CDTF">2025-03-13T18:03:22Z</dcterms:created>
  <dcterms:modified xsi:type="dcterms:W3CDTF">2025-03-13T18:53:53Z</dcterms:modified>
</cp:coreProperties>
</file>